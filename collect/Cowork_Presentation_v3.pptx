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2" r:id="rId5"/>
    <p:sldId id="259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5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03414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etth.atlassian.net/jira/software/projects/CSD/boards/235/timeline?selectedIssue=CSD-408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133600" y="1828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</a:t>
            </a:r>
            <a:r>
              <a:rPr lang="en-US" sz="52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Cowork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21336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Turn repetitive tasks into automation — no coding required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76400" y="4389120"/>
            <a:ext cx="9144000" cy="662940"/>
          </a:xfrm>
          <a:prstGeom prst="rect">
            <a:avLst/>
          </a:prstGeom>
          <a:solidFill>
            <a:srgbClr val="141D2B"/>
          </a:solidFill>
          <a:ln/>
        </p:spPr>
      </p:sp>
      <p:sp>
        <p:nvSpPr>
          <p:cNvPr id="6" name="Text 4"/>
          <p:cNvSpPr/>
          <p:nvPr/>
        </p:nvSpPr>
        <p:spPr>
          <a:xfrm>
            <a:off x="1676400" y="4389120"/>
            <a:ext cx="91440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kern="0" spc="15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AI AUTOMATION PLATFORM  •  UAT &amp; PROMOTE NOTIFICATION SYSTEM</a:t>
            </a:r>
            <a:endParaRPr lang="en-US" sz="1300" dirty="0"/>
          </a:p>
        </p:txBody>
      </p:sp>
      <p:pic>
        <p:nvPicPr>
          <p:cNvPr id="5122" name="Picture 2" descr="Claude - Download transparent vector logo in SVG or PNG">
            <a:extLst>
              <a:ext uri="{FF2B5EF4-FFF2-40B4-BE49-F238E27FC236}">
                <a16:creationId xmlns:a16="http://schemas.microsoft.com/office/drawing/2014/main" id="{BAB7775F-2414-4C58-940F-2C49CC4EDD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900" y="1094740"/>
            <a:ext cx="1054100" cy="105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laude Cowork | Anthropic's agentic AI for knowledge work \ Anthropic">
            <a:extLst>
              <a:ext uri="{FF2B5EF4-FFF2-40B4-BE49-F238E27FC236}">
                <a16:creationId xmlns:a16="http://schemas.microsoft.com/office/drawing/2014/main" id="{F7766DBE-E2D6-47EA-A168-78A17DCC6C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38"/>
          <a:stretch/>
        </p:blipFill>
        <p:spPr bwMode="auto">
          <a:xfrm rot="20205866">
            <a:off x="725481" y="3813898"/>
            <a:ext cx="14036572" cy="6563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ABDB321E-2ADB-4080-92F3-85EB00CCFFF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2535">
              <a:alpha val="69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" name="Shape 0"/>
          <p:cNvSpPr/>
          <p:nvPr/>
        </p:nvSpPr>
        <p:spPr>
          <a:xfrm>
            <a:off x="6601968" y="-2433161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What is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10996" y="1161955"/>
            <a:ext cx="2029968" cy="2451947"/>
          </a:xfrm>
          <a:prstGeom prst="roundRect">
            <a:avLst>
              <a:gd name="adj" fmla="val 6757"/>
            </a:avLst>
          </a:prstGeom>
          <a:solidFill>
            <a:srgbClr val="1A2535"/>
          </a:solidFill>
          <a:ln/>
        </p:spPr>
      </p:sp>
      <p:sp>
        <p:nvSpPr>
          <p:cNvPr id="6" name="Shape 4"/>
          <p:cNvSpPr/>
          <p:nvPr/>
        </p:nvSpPr>
        <p:spPr>
          <a:xfrm>
            <a:off x="1312164" y="1363123"/>
            <a:ext cx="502920" cy="345787"/>
          </a:xfrm>
          <a:prstGeom prst="roundRect">
            <a:avLst>
              <a:gd name="adj" fmla="val 14545"/>
            </a:avLst>
          </a:prstGeom>
          <a:solidFill>
            <a:srgbClr val="152E2C"/>
          </a:solidFill>
          <a:ln/>
        </p:spPr>
      </p:sp>
      <p:sp>
        <p:nvSpPr>
          <p:cNvPr id="7" name="Text 5"/>
          <p:cNvSpPr/>
          <p:nvPr/>
        </p:nvSpPr>
        <p:spPr>
          <a:xfrm>
            <a:off x="1312164" y="1363123"/>
            <a:ext cx="502920" cy="34578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[PC]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12164" y="2030635"/>
            <a:ext cx="1755648" cy="2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Desktop AI App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2164" y="2460403"/>
            <a:ext cx="1755648" cy="138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Runs natively on Windows with minimal administrative constraints.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461004" y="1161955"/>
            <a:ext cx="2029968" cy="2451947"/>
          </a:xfrm>
          <a:prstGeom prst="roundRect">
            <a:avLst>
              <a:gd name="adj" fmla="val 6757"/>
            </a:avLst>
          </a:prstGeom>
          <a:solidFill>
            <a:srgbClr val="1A2535"/>
          </a:solidFill>
          <a:ln/>
        </p:spPr>
      </p:sp>
      <p:sp>
        <p:nvSpPr>
          <p:cNvPr id="11" name="Shape 9"/>
          <p:cNvSpPr/>
          <p:nvPr/>
        </p:nvSpPr>
        <p:spPr>
          <a:xfrm>
            <a:off x="3662172" y="1363123"/>
            <a:ext cx="502920" cy="345787"/>
          </a:xfrm>
          <a:prstGeom prst="roundRect">
            <a:avLst>
              <a:gd name="adj" fmla="val 14545"/>
            </a:avLst>
          </a:prstGeom>
          <a:solidFill>
            <a:srgbClr val="152E2C"/>
          </a:solidFill>
          <a:ln/>
        </p:spPr>
      </p:sp>
      <p:sp>
        <p:nvSpPr>
          <p:cNvPr id="12" name="Text 10"/>
          <p:cNvSpPr/>
          <p:nvPr/>
        </p:nvSpPr>
        <p:spPr>
          <a:xfrm>
            <a:off x="3662172" y="1363123"/>
            <a:ext cx="502920" cy="34578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[CO]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62172" y="2030635"/>
            <a:ext cx="1755648" cy="2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Tool Connectors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62172" y="2460403"/>
            <a:ext cx="1755648" cy="138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Plug-and-play connections to Jira, Outlook, SharePoint, and Excel.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110996" y="3804762"/>
            <a:ext cx="2029968" cy="2451947"/>
          </a:xfrm>
          <a:prstGeom prst="roundRect">
            <a:avLst>
              <a:gd name="adj" fmla="val 6757"/>
            </a:avLst>
          </a:prstGeom>
          <a:solidFill>
            <a:srgbClr val="1A2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1312164" y="4005930"/>
            <a:ext cx="502920" cy="345787"/>
          </a:xfrm>
          <a:prstGeom prst="roundRect">
            <a:avLst>
              <a:gd name="adj" fmla="val 14545"/>
            </a:avLst>
          </a:prstGeom>
          <a:solidFill>
            <a:srgbClr val="152E2C"/>
          </a:solidFill>
          <a:ln/>
        </p:spPr>
      </p:sp>
      <p:sp>
        <p:nvSpPr>
          <p:cNvPr id="17" name="Text 15"/>
          <p:cNvSpPr/>
          <p:nvPr/>
        </p:nvSpPr>
        <p:spPr>
          <a:xfrm>
            <a:off x="1312164" y="4005930"/>
            <a:ext cx="502920" cy="345787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&lt;/&gt;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12164" y="4673442"/>
            <a:ext cx="1755648" cy="2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Natural Setup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12164" y="5103210"/>
            <a:ext cx="1755648" cy="138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Write rules in simple English or Thai inside the SKILL.md workflow file.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61004" y="3804762"/>
            <a:ext cx="2029968" cy="2451947"/>
          </a:xfrm>
          <a:prstGeom prst="roundRect">
            <a:avLst>
              <a:gd name="adj" fmla="val 6757"/>
            </a:avLst>
          </a:prstGeom>
          <a:solidFill>
            <a:srgbClr val="1A2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3662172" y="4005930"/>
            <a:ext cx="502920" cy="345787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22" name="Text 20"/>
          <p:cNvSpPr/>
          <p:nvPr/>
        </p:nvSpPr>
        <p:spPr>
          <a:xfrm>
            <a:off x="3662172" y="4005930"/>
            <a:ext cx="502920" cy="3457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[CL]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662172" y="4673442"/>
            <a:ext cx="1755648" cy="238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 Schedule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598164" y="5103210"/>
            <a:ext cx="1755648" cy="138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Trigger complex routine tasks seamlessly every morning with zero manual input.</a:t>
            </a:r>
            <a:endParaRPr lang="en-US" sz="1400" dirty="0"/>
          </a:p>
        </p:txBody>
      </p:sp>
      <p:pic>
        <p:nvPicPr>
          <p:cNvPr id="1028" name="Picture 4" descr="Anthropic's New Claude Cowork Is an AI Agent for Your Computer's Files -  CNET">
            <a:extLst>
              <a:ext uri="{FF2B5EF4-FFF2-40B4-BE49-F238E27FC236}">
                <a16:creationId xmlns:a16="http://schemas.microsoft.com/office/drawing/2014/main" id="{FD2CC26B-6202-4CA8-9CCF-12C0068DC8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415" y="-66528"/>
            <a:ext cx="1295554" cy="1295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1FA292E-3E12-4C73-AD5B-FF08D804DFC8}"/>
              </a:ext>
            </a:extLst>
          </p:cNvPr>
          <p:cNvSpPr txBox="1"/>
          <p:nvPr/>
        </p:nvSpPr>
        <p:spPr>
          <a:xfrm>
            <a:off x="3163824" y="216325"/>
            <a:ext cx="7747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</a:t>
            </a:r>
            <a:r>
              <a:rPr lang="en-US" sz="4000" b="1" dirty="0" err="1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Cowork</a:t>
            </a:r>
            <a:r>
              <a:rPr lang="en-US" sz="4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?</a:t>
            </a:r>
            <a:endParaRPr lang="th-TH" sz="4000" dirty="0"/>
          </a:p>
        </p:txBody>
      </p:sp>
      <p:pic>
        <p:nvPicPr>
          <p:cNvPr id="1030" name="Picture 6" descr="Claude - Download transparent vector logo in SVG or PNG">
            <a:extLst>
              <a:ext uri="{FF2B5EF4-FFF2-40B4-BE49-F238E27FC236}">
                <a16:creationId xmlns:a16="http://schemas.microsoft.com/office/drawing/2014/main" id="{149E8485-A032-434D-8EDE-8BBFF7BC75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6624" y="-2639865"/>
            <a:ext cx="5508983" cy="5508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Before Cowork: Daily Manual Friction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212766" y="1805178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1212766" y="18051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24246" y="167716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Calendar Drift: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24246" y="196977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Manually marking UAT and Promote release dates onto personal team planners.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12766" y="2564130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1212766" y="256413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24246" y="243611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High Oversight Risks: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24246" y="2728722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Depending on team memory to review daily calendars for imminent milestones.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12766" y="3323082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4" name="Text 12"/>
          <p:cNvSpPr/>
          <p:nvPr/>
        </p:nvSpPr>
        <p:spPr>
          <a:xfrm>
            <a:off x="1212766" y="332308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624246" y="319506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Information Hunting: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24246" y="3487674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Searching through unconnected systems to extract valid delivery unit email directories.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212766" y="4082034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1212766" y="408203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24246" y="395401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Repetitive Email Drafting: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24246" y="424662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Manually pasting, styling, and drafting identical system communication alerts.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212766" y="4840986"/>
            <a:ext cx="256032" cy="256032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1212766" y="484098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!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624246" y="471297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 Audit Trail: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24246" y="500557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High risk of duplicates, missed alerts, and zero structured run log reporting.</a:t>
            </a:r>
            <a:endParaRPr lang="en-US" sz="13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D78DD80-096E-40DF-958A-ED6FE910A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2480" y="912343"/>
            <a:ext cx="5648620" cy="77948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B1E8D6A9-82D2-4672-9C50-49339C6E7497}"/>
              </a:ext>
            </a:extLst>
          </p:cNvPr>
          <p:cNvSpPr/>
          <p:nvPr/>
        </p:nvSpPr>
        <p:spPr>
          <a:xfrm>
            <a:off x="6962480" y="912343"/>
            <a:ext cx="5381920" cy="6858000"/>
          </a:xfrm>
          <a:prstGeom prst="rect">
            <a:avLst/>
          </a:prstGeom>
          <a:solidFill>
            <a:srgbClr val="1A2535">
              <a:alpha val="6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CEB60B0-A1B9-42CF-8C7C-029E04D80C18}"/>
              </a:ext>
            </a:extLst>
          </p:cNvPr>
          <p:cNvSpPr/>
          <p:nvPr/>
        </p:nvSpPr>
        <p:spPr>
          <a:xfrm>
            <a:off x="566928" y="5750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1"/>
                </a:solidFill>
              </a:rPr>
              <a:t>UAT &amp; Promote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Setup in 3 Simple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03476" y="1691979"/>
            <a:ext cx="2715768" cy="374904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7" name="Text 5"/>
          <p:cNvSpPr/>
          <p:nvPr/>
        </p:nvSpPr>
        <p:spPr>
          <a:xfrm>
            <a:off x="2040636" y="2423499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4A5A"/>
                </a:solidFill>
              </a:rPr>
              <a:t>+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40636" y="2834979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68068" y="3685371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Connect Jira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68068" y="4115139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 Cowork Settings -&gt; Connectors -&gt; Select Atlassian and log in with your credentials.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38116" y="1691979"/>
            <a:ext cx="2715768" cy="374904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12" name="Shape 10"/>
          <p:cNvSpPr/>
          <p:nvPr/>
        </p:nvSpPr>
        <p:spPr>
          <a:xfrm>
            <a:off x="4875276" y="1829139"/>
            <a:ext cx="2441448" cy="1737360"/>
          </a:xfrm>
          <a:prstGeom prst="roundRect">
            <a:avLst>
              <a:gd name="adj" fmla="val 5263"/>
            </a:avLst>
          </a:prstGeom>
          <a:solidFill>
            <a:srgbClr val="151F2E"/>
          </a:solidFill>
          <a:ln w="12700">
            <a:solidFill>
              <a:srgbClr val="3A4A5A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4875276" y="2423499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4A5A"/>
                </a:solidFill>
              </a:rPr>
              <a:t>+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75276" y="2834979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02708" y="3685371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Create Project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902708" y="4115139"/>
            <a:ext cx="24414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Initialize a New Project -&gt; Choose target local folder with predefined variables and xlsx logs.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572756" y="1691979"/>
            <a:ext cx="2715768" cy="374904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18" name="Shape 16"/>
          <p:cNvSpPr/>
          <p:nvPr/>
        </p:nvSpPr>
        <p:spPr>
          <a:xfrm>
            <a:off x="7709916" y="1829139"/>
            <a:ext cx="2441448" cy="1737360"/>
          </a:xfrm>
          <a:prstGeom prst="roundRect">
            <a:avLst>
              <a:gd name="adj" fmla="val 5263"/>
            </a:avLst>
          </a:prstGeom>
          <a:solidFill>
            <a:srgbClr val="151F2E"/>
          </a:solidFill>
          <a:ln w="12700">
            <a:solidFill>
              <a:srgbClr val="3A4A5A"/>
            </a:solidFill>
            <a:prstDash val="dash"/>
          </a:ln>
        </p:spPr>
      </p:sp>
      <p:sp>
        <p:nvSpPr>
          <p:cNvPr id="19" name="Text 17"/>
          <p:cNvSpPr/>
          <p:nvPr/>
        </p:nvSpPr>
        <p:spPr>
          <a:xfrm>
            <a:off x="7709916" y="2423499"/>
            <a:ext cx="2441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3A4A5A"/>
                </a:solidFill>
              </a:rPr>
              <a:t>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7709916" y="2834979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3A4A5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SCREENSHOT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37348" y="3685371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Set Schedule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737348" y="4115139"/>
            <a:ext cx="2441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/schedule 08:00 check UAT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37348" y="4508331"/>
            <a:ext cx="24414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Claude handles the rest.</a:t>
            </a:r>
            <a:endParaRPr lang="en-US" sz="13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B3E7ACE-6294-4AC8-BB05-E16FBD768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6008" y="1787791"/>
            <a:ext cx="2416222" cy="1760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4" name="Picture 2" descr="Jira | Issue &amp; Project Tracking Software | Atlassian">
            <a:extLst>
              <a:ext uri="{FF2B5EF4-FFF2-40B4-BE49-F238E27FC236}">
                <a16:creationId xmlns:a16="http://schemas.microsoft.com/office/drawing/2014/main" id="{BA3A0346-7624-4F02-9FD1-91CBB1B5F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204" y="1787791"/>
            <a:ext cx="2482596" cy="17604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068C02-115F-401F-91AD-63CF5BC8F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9916" y="1787790"/>
            <a:ext cx="2468880" cy="177870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26" name="Picture 2" descr="Jira Logo and symbol, meaning, history, sign.">
            <a:extLst>
              <a:ext uri="{FF2B5EF4-FFF2-40B4-BE49-F238E27FC236}">
                <a16:creationId xmlns:a16="http://schemas.microsoft.com/office/drawing/2014/main" id="{432311FC-0792-438A-BC05-E096B7302C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854"/>
          <a:stretch/>
        </p:blipFill>
        <p:spPr bwMode="auto">
          <a:xfrm>
            <a:off x="1372653" y="987998"/>
            <a:ext cx="1116510" cy="1455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Required Fields in Jira Epic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783080" y="1581912"/>
            <a:ext cx="2715768" cy="338328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6" name="Text 4"/>
          <p:cNvSpPr/>
          <p:nvPr/>
        </p:nvSpPr>
        <p:spPr>
          <a:xfrm>
            <a:off x="1947672" y="17465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Date Fields (Most Critical)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947672" y="2176272"/>
            <a:ext cx="2386584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947672" y="233172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21992" y="2331720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Start Date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21992" y="2606040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time representation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47672" y="3044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21992" y="3044952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End Date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221992" y="3319272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Period time representation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47672" y="375818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21992" y="3758184"/>
            <a:ext cx="2121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Promote Date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21992" y="403250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 release target date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17720" y="1581912"/>
            <a:ext cx="2715768" cy="338328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17465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Units &amp; Task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82312" y="2176272"/>
            <a:ext cx="2386584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233172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56632" y="23317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 Units Selection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56632" y="27157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teams involved in workflow run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82312" y="3246120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56632" y="3246120"/>
            <a:ext cx="2121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Main Task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56632" y="36301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Main task details used in context template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52360" y="1581912"/>
            <a:ext cx="2715768" cy="3383280"/>
          </a:xfrm>
          <a:prstGeom prst="roundRect">
            <a:avLst>
              <a:gd name="adj" fmla="val 5051"/>
            </a:avLst>
          </a:prstGeom>
          <a:solidFill>
            <a:srgbClr val="1A2535"/>
          </a:solidFill>
          <a:ln/>
        </p:spPr>
      </p:sp>
      <p:sp>
        <p:nvSpPr>
          <p:cNvPr id="27" name="Text 25"/>
          <p:cNvSpPr/>
          <p:nvPr/>
        </p:nvSpPr>
        <p:spPr>
          <a:xfrm>
            <a:off x="7616952" y="1746504"/>
            <a:ext cx="2441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Checkboxes to Select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16952" y="2176272"/>
            <a:ext cx="2386584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9" name="Text 27"/>
          <p:cNvSpPr/>
          <p:nvPr/>
        </p:nvSpPr>
        <p:spPr>
          <a:xfrm>
            <a:off x="7616952" y="233172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91272" y="233172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Account Services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616952" y="2734056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891272" y="2734056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Counter Services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616952" y="3136392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891272" y="3136392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Issuer Services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16952" y="3538728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891272" y="3538728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Investor Service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616952" y="3941064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91272" y="3941064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CA Service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16952" y="4343400"/>
            <a:ext cx="256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</a:rPr>
              <a:t>✓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91272" y="4343400"/>
            <a:ext cx="2121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Distribution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783080" y="5102352"/>
            <a:ext cx="8321040" cy="347472"/>
          </a:xfrm>
          <a:prstGeom prst="roundRect">
            <a:avLst>
              <a:gd name="adj" fmla="val 21053"/>
            </a:avLst>
          </a:prstGeom>
          <a:solidFill>
            <a:srgbClr val="0F2233"/>
          </a:solidFill>
          <a:ln w="9525">
            <a:solidFill>
              <a:srgbClr val="2DD4BF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783080" y="510235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Fill in these fields when creating a new Epic — the system pulls the data automatically.</a:t>
            </a:r>
            <a:endParaRPr lang="en-US" sz="13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5388A03-8C63-414D-9B23-3AAEA508510A}"/>
              </a:ext>
            </a:extLst>
          </p:cNvPr>
          <p:cNvSpPr txBox="1"/>
          <p:nvPr/>
        </p:nvSpPr>
        <p:spPr>
          <a:xfrm>
            <a:off x="5854360" y="6473952"/>
            <a:ext cx="656623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hlinkClick r:id="rId3"/>
              </a:rPr>
              <a:t>https://setth.atlassian.net/jira/software/projects/CSD/boards/235/timeline?selectedIssue=CSD-408</a:t>
            </a:r>
            <a:endParaRPr lang="th-TH" sz="1200" dirty="0"/>
          </a:p>
          <a:p>
            <a:endParaRPr lang="th-TH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&amp; Promote Workflows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01614" y="1371600"/>
            <a:ext cx="4160520" cy="3474720"/>
          </a:xfrm>
          <a:prstGeom prst="roundRect">
            <a:avLst>
              <a:gd name="adj" fmla="val 3947"/>
            </a:avLst>
          </a:prstGeom>
          <a:solidFill>
            <a:srgbClr val="1A2535"/>
          </a:solidFill>
          <a:ln/>
        </p:spPr>
      </p:sp>
      <p:sp>
        <p:nvSpPr>
          <p:cNvPr id="6" name="Text 4"/>
          <p:cNvSpPr/>
          <p:nvPr/>
        </p:nvSpPr>
        <p:spPr>
          <a:xfrm>
            <a:off x="2084494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UAT Notification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084494" y="1965960"/>
            <a:ext cx="3794760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Shape 6"/>
          <p:cNvSpPr/>
          <p:nvPr/>
        </p:nvSpPr>
        <p:spPr>
          <a:xfrm>
            <a:off x="2084494" y="213969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494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23406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Epic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23406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คัดกรองจาก Jira เมื่อ UAT Start Date ใกล้มาถึงตามเกณฑ์ที่กำหนด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084494" y="277977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494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406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Lookup Email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23406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 email แผนกผู้รับผิดชอบจาก Excel Map_User_Email.xlsx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084494" y="341985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8449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523406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Draft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23406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จัดเตรียม Subject, To, CC, และ HTML Body ใน Outlook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084494" y="405993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84494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523406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 Jira Comment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523406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พิมพ์คอมเมนต์ยืนยัน UAT Notification Sent ใน Epic อัตโนมัติ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45014" y="1371600"/>
            <a:ext cx="4160520" cy="3474720"/>
          </a:xfrm>
          <a:prstGeom prst="roundRect">
            <a:avLst>
              <a:gd name="adj" fmla="val 3947"/>
            </a:avLst>
          </a:prstGeom>
          <a:solidFill>
            <a:srgbClr val="1A2535"/>
          </a:solidFill>
          <a:ln/>
        </p:spPr>
      </p:sp>
      <p:sp>
        <p:nvSpPr>
          <p:cNvPr id="25" name="Text 23"/>
          <p:cNvSpPr/>
          <p:nvPr/>
        </p:nvSpPr>
        <p:spPr>
          <a:xfrm>
            <a:off x="6427894" y="1536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Promote Notification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6427894" y="1965960"/>
            <a:ext cx="3794760" cy="2286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27" name="Shape 25"/>
          <p:cNvSpPr/>
          <p:nvPr/>
        </p:nvSpPr>
        <p:spPr>
          <a:xfrm>
            <a:off x="6427894" y="213969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7894" y="2139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866806" y="21031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Epic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66806" y="2377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ค้นหา Epic ที่มี Promote Date ภายในกรอบเวลา 3 วัน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27894" y="277977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7894" y="27797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866806" y="27432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Lookup Email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866806" y="3017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 email จาก Map_User_Email.xlsx ถึงผู้มีส่วนได้ส่วนเสียที่เกี่ยวข้อง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27894" y="341985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789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866806" y="338328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Draft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866806" y="3657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จัดเตรียม Subject, Recipients, CC, และ HTML Body ใน Outlook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27894" y="4059936"/>
            <a:ext cx="365760" cy="365760"/>
          </a:xfrm>
          <a:prstGeom prst="ellipse">
            <a:avLst/>
          </a:prstGeom>
          <a:solidFill>
            <a:srgbClr val="0F2233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27894" y="4059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866806" y="402336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Complete Process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866806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ปุ่มตัดลอก To, CC, และ HTML body ไปใช้งานใน Outlook ได้เลย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23774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Automated Outcomes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14984" y="1908725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Structured Communications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014984" y="2338493"/>
            <a:ext cx="4480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Transforms raw Jira data into structured outputs ready for instant stakeholder distribution.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14984" y="3051725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Subject Headers:</a:t>
            </a: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Formats system classifications alongside release dates cleanly.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14984" y="3764957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Draft Recipients:</a:t>
            </a: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Extracts and populates proper CC/BCC stakeholders dynamically.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14984" y="4478189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Copy-to-Clipboard:</a:t>
            </a:r>
            <a:r>
              <a:rPr lang="en-US" sz="14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One-click commands copy complete formatted payloads to Outlook.</a:t>
            </a:r>
            <a:endParaRPr lang="en-US" sz="14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BDFD1E6-C6D1-4234-9FEF-F4800EB61A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6984" y="-5681"/>
            <a:ext cx="6605016" cy="686319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6874905-168B-46CD-A04D-7E952B06DB61}"/>
              </a:ext>
            </a:extLst>
          </p:cNvPr>
          <p:cNvSpPr/>
          <p:nvPr/>
        </p:nvSpPr>
        <p:spPr>
          <a:xfrm>
            <a:off x="5586984" y="-5681"/>
            <a:ext cx="6605016" cy="6858000"/>
          </a:xfrm>
          <a:prstGeom prst="rect">
            <a:avLst/>
          </a:prstGeom>
          <a:solidFill>
            <a:srgbClr val="1A2535">
              <a:alpha val="48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256032"/>
            <a:ext cx="64008" cy="45720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3774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Built-In Platform Skills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986280" y="194310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6" name="Shape 4"/>
          <p:cNvSpPr/>
          <p:nvPr/>
        </p:nvSpPr>
        <p:spPr>
          <a:xfrm>
            <a:off x="2187448" y="214426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/>
          <p:nvPr/>
        </p:nvSpPr>
        <p:spPr>
          <a:xfrm>
            <a:off x="2187448" y="21442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[SC]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90952" y="20802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/schedule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790952" y="240030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Sets scheduled off-hours triggers effortlessly.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20920" y="194310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11" name="Shape 9"/>
          <p:cNvSpPr/>
          <p:nvPr/>
        </p:nvSpPr>
        <p:spPr>
          <a:xfrm>
            <a:off x="5022088" y="214426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/>
          <p:nvPr/>
        </p:nvSpPr>
        <p:spPr>
          <a:xfrm>
            <a:off x="5022088" y="21442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[DG]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25592" y="20802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/digest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25592" y="240030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Gathers emails, tickets, and calendar tasks into bullet summaries.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655560" y="194310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16" name="Shape 14"/>
          <p:cNvSpPr/>
          <p:nvPr/>
        </p:nvSpPr>
        <p:spPr>
          <a:xfrm>
            <a:off x="7856728" y="214426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/>
          <p:nvPr/>
        </p:nvSpPr>
        <p:spPr>
          <a:xfrm>
            <a:off x="7856728" y="21442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[XL]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60232" y="208026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xlsx skill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60232" y="240030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Manipulates spreadsheets, formulas, and maps system datasets.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986280" y="363474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21" name="Shape 19"/>
          <p:cNvSpPr/>
          <p:nvPr/>
        </p:nvSpPr>
        <p:spPr>
          <a:xfrm>
            <a:off x="2187448" y="383590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22" name="Text 20"/>
          <p:cNvSpPr/>
          <p:nvPr/>
        </p:nvSpPr>
        <p:spPr>
          <a:xfrm>
            <a:off x="2187448" y="38359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[DC]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790952" y="377190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docx skill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790952" y="40919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Compiles structured reports and specifications dynamically.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20920" y="363474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2088" y="383590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52E2C"/>
          </a:solidFill>
          <a:ln/>
        </p:spPr>
      </p:sp>
      <p:sp>
        <p:nvSpPr>
          <p:cNvPr id="27" name="Text 25"/>
          <p:cNvSpPr/>
          <p:nvPr/>
        </p:nvSpPr>
        <p:spPr>
          <a:xfrm>
            <a:off x="5022088" y="3835908"/>
            <a:ext cx="502920" cy="5029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[PP]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625592" y="377190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pptx skill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5592" y="40919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Auto-generates presentation decks from data sources.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655560" y="3634740"/>
            <a:ext cx="2715768" cy="1508760"/>
          </a:xfrm>
          <a:prstGeom prst="roundRect">
            <a:avLst>
              <a:gd name="adj" fmla="val 9091"/>
            </a:avLst>
          </a:prstGeom>
          <a:solidFill>
            <a:srgbClr val="1A2535"/>
          </a:solidFill>
          <a:ln/>
        </p:spPr>
      </p:sp>
      <p:sp>
        <p:nvSpPr>
          <p:cNvPr id="31" name="Shape 29"/>
          <p:cNvSpPr/>
          <p:nvPr/>
        </p:nvSpPr>
        <p:spPr>
          <a:xfrm>
            <a:off x="7856728" y="3835908"/>
            <a:ext cx="50292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/>
        </p:spPr>
      </p:sp>
      <p:sp>
        <p:nvSpPr>
          <p:cNvPr id="32" name="Text 30"/>
          <p:cNvSpPr/>
          <p:nvPr/>
        </p:nvSpPr>
        <p:spPr>
          <a:xfrm>
            <a:off x="7856728" y="38359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[MS]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60232" y="3771900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Microsoft 365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60232" y="4091940"/>
            <a:ext cx="18013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Connects Outlook, SharePoint and calendar in natural language.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D3A5A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3890433" y="2078566"/>
            <a:ext cx="468206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ลดงานซ้ำซาก  </a:t>
            </a:r>
            <a:r>
              <a:rPr lang="en-US" sz="4600" b="1" dirty="0">
                <a:solidFill>
                  <a:srgbClr val="2DD4B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เพิ่มประสิทธิภาพ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2116667" y="3410373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892A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Eliminate repetitive overhead and focus on work that matters.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71147" y="4050453"/>
            <a:ext cx="5120640" cy="502920"/>
          </a:xfrm>
          <a:prstGeom prst="roundRect">
            <a:avLst>
              <a:gd name="adj" fmla="val 50909"/>
            </a:avLst>
          </a:prstGeom>
          <a:solidFill>
            <a:srgbClr val="1A2535"/>
          </a:solidFill>
          <a:ln w="12700">
            <a:solidFill>
              <a:srgbClr val="3A4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71147" y="4050453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github.com/Kitkanaporn/Intern_web_Automation_003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1776</TotalTime>
  <Words>689</Words>
  <Application>Microsoft Office PowerPoint</Application>
  <PresentationFormat>Widescreen</PresentationFormat>
  <Paragraphs>145</Paragraphs>
  <Slides>9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Tahoma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KITKANAPORN UMPAIMUNGKORN (Outsource)</cp:lastModifiedBy>
  <cp:revision>12</cp:revision>
  <dcterms:created xsi:type="dcterms:W3CDTF">2026-07-07T06:53:59Z</dcterms:created>
  <dcterms:modified xsi:type="dcterms:W3CDTF">2026-07-09T08:59:03Z</dcterms:modified>
</cp:coreProperties>
</file>